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39" r:id="rId4"/>
  </p:sldMasterIdLst>
  <p:sldIdLst>
    <p:sldId id="256" r:id="rId5"/>
    <p:sldId id="257" r:id="rId6"/>
    <p:sldId id="258" r:id="rId7"/>
    <p:sldId id="277" r:id="rId8"/>
    <p:sldId id="278" r:id="rId9"/>
    <p:sldId id="260" r:id="rId10"/>
    <p:sldId id="279" r:id="rId11"/>
    <p:sldId id="261" r:id="rId12"/>
    <p:sldId id="262" r:id="rId13"/>
    <p:sldId id="263" r:id="rId14"/>
    <p:sldId id="264" r:id="rId15"/>
    <p:sldId id="265" r:id="rId16"/>
    <p:sldId id="266" r:id="rId17"/>
    <p:sldId id="280" r:id="rId18"/>
    <p:sldId id="267" r:id="rId19"/>
    <p:sldId id="268" r:id="rId20"/>
    <p:sldId id="269" r:id="rId21"/>
    <p:sldId id="270" r:id="rId22"/>
    <p:sldId id="271" r:id="rId23"/>
    <p:sldId id="272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FFFF99"/>
    <a:srgbClr val="FF00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ECF756-8AB2-5A44-99A3-F32CC9693761}" v="5" dt="2025-08-10T17:17:35.5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71" autoAdjust="0"/>
    <p:restoredTop sz="93699" autoAdjust="0"/>
  </p:normalViewPr>
  <p:slideViewPr>
    <p:cSldViewPr>
      <p:cViewPr varScale="1">
        <p:scale>
          <a:sx n="100" d="100"/>
          <a:sy n="100" d="100"/>
        </p:scale>
        <p:origin x="2968" y="4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McDonald" userId="066cc030-685a-4332-a595-fc2d5399ad89" providerId="ADAL" clId="{08ECF756-8AB2-5A44-99A3-F32CC9693761}"/>
    <pc:docChg chg="undo custSel modSld">
      <pc:chgData name="Michael McDonald" userId="066cc030-685a-4332-a595-fc2d5399ad89" providerId="ADAL" clId="{08ECF756-8AB2-5A44-99A3-F32CC9693761}" dt="2025-08-10T17:19:01.618" v="352" actId="20577"/>
      <pc:docMkLst>
        <pc:docMk/>
      </pc:docMkLst>
      <pc:sldChg chg="modSp mod">
        <pc:chgData name="Michael McDonald" userId="066cc030-685a-4332-a595-fc2d5399ad89" providerId="ADAL" clId="{08ECF756-8AB2-5A44-99A3-F32CC9693761}" dt="2025-08-10T17:19:01.618" v="352" actId="20577"/>
        <pc:sldMkLst>
          <pc:docMk/>
          <pc:sldMk cId="1792096845" sldId="262"/>
        </pc:sldMkLst>
        <pc:spChg chg="mod">
          <ac:chgData name="Michael McDonald" userId="066cc030-685a-4332-a595-fc2d5399ad89" providerId="ADAL" clId="{08ECF756-8AB2-5A44-99A3-F32CC9693761}" dt="2025-08-10T17:19:01.618" v="352" actId="20577"/>
          <ac:spMkLst>
            <pc:docMk/>
            <pc:sldMk cId="1792096845" sldId="262"/>
            <ac:spMk id="4" creationId="{00000000-0000-0000-0000-000000000000}"/>
          </ac:spMkLst>
        </pc:spChg>
      </pc:sldChg>
      <pc:sldChg chg="modSp mod">
        <pc:chgData name="Michael McDonald" userId="066cc030-685a-4332-a595-fc2d5399ad89" providerId="ADAL" clId="{08ECF756-8AB2-5A44-99A3-F32CC9693761}" dt="2025-08-10T17:16:25.220" v="270" actId="2711"/>
        <pc:sldMkLst>
          <pc:docMk/>
          <pc:sldMk cId="0" sldId="268"/>
        </pc:sldMkLst>
        <pc:spChg chg="mod">
          <ac:chgData name="Michael McDonald" userId="066cc030-685a-4332-a595-fc2d5399ad89" providerId="ADAL" clId="{08ECF756-8AB2-5A44-99A3-F32CC9693761}" dt="2025-08-10T17:16:25.220" v="270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Michael McDonald" userId="066cc030-685a-4332-a595-fc2d5399ad89" providerId="ADAL" clId="{08ECF756-8AB2-5A44-99A3-F32CC9693761}" dt="2025-08-10T17:16:19.736" v="269" actId="1076"/>
          <ac:spMkLst>
            <pc:docMk/>
            <pc:sldMk cId="0" sldId="268"/>
            <ac:spMk id="16388" creationId="{00000000-0000-0000-0000-000000000000}"/>
          </ac:spMkLst>
        </pc:spChg>
      </pc:sldChg>
      <pc:sldChg chg="modSp mod">
        <pc:chgData name="Michael McDonald" userId="066cc030-685a-4332-a595-fc2d5399ad89" providerId="ADAL" clId="{08ECF756-8AB2-5A44-99A3-F32CC9693761}" dt="2025-08-10T17:15:29.776" v="216" actId="20577"/>
        <pc:sldMkLst>
          <pc:docMk/>
          <pc:sldMk cId="0" sldId="271"/>
        </pc:sldMkLst>
        <pc:spChg chg="mod">
          <ac:chgData name="Michael McDonald" userId="066cc030-685a-4332-a595-fc2d5399ad89" providerId="ADAL" clId="{08ECF756-8AB2-5A44-99A3-F32CC9693761}" dt="2025-08-10T17:15:29.776" v="216" actId="20577"/>
          <ac:spMkLst>
            <pc:docMk/>
            <pc:sldMk cId="0" sldId="271"/>
            <ac:spMk id="66563" creationId="{00000000-0000-0000-0000-000000000000}"/>
          </ac:spMkLst>
        </pc:spChg>
      </pc:sldChg>
      <pc:sldChg chg="addSp delSp modSp mod">
        <pc:chgData name="Michael McDonald" userId="066cc030-685a-4332-a595-fc2d5399ad89" providerId="ADAL" clId="{08ECF756-8AB2-5A44-99A3-F32CC9693761}" dt="2025-08-10T17:13:50.570" v="132" actId="20577"/>
        <pc:sldMkLst>
          <pc:docMk/>
          <pc:sldMk cId="1438501761" sldId="276"/>
        </pc:sldMkLst>
        <pc:spChg chg="mod">
          <ac:chgData name="Michael McDonald" userId="066cc030-685a-4332-a595-fc2d5399ad89" providerId="ADAL" clId="{08ECF756-8AB2-5A44-99A3-F32CC9693761}" dt="2025-08-10T17:13:30.471" v="120" actId="20577"/>
          <ac:spMkLst>
            <pc:docMk/>
            <pc:sldMk cId="1438501761" sldId="276"/>
            <ac:spMk id="2" creationId="{00000000-0000-0000-0000-000000000000}"/>
          </ac:spMkLst>
        </pc:spChg>
        <pc:spChg chg="mod">
          <ac:chgData name="Michael McDonald" userId="066cc030-685a-4332-a595-fc2d5399ad89" providerId="ADAL" clId="{08ECF756-8AB2-5A44-99A3-F32CC9693761}" dt="2025-08-10T17:13:50.570" v="132" actId="20577"/>
          <ac:spMkLst>
            <pc:docMk/>
            <pc:sldMk cId="1438501761" sldId="276"/>
            <ac:spMk id="3" creationId="{00000000-0000-0000-0000-000000000000}"/>
          </ac:spMkLst>
        </pc:spChg>
        <pc:picChg chg="add del mod">
          <ac:chgData name="Michael McDonald" userId="066cc030-685a-4332-a595-fc2d5399ad89" providerId="ADAL" clId="{08ECF756-8AB2-5A44-99A3-F32CC9693761}" dt="2025-08-10T17:11:54.706" v="13" actId="478"/>
          <ac:picMkLst>
            <pc:docMk/>
            <pc:sldMk cId="1438501761" sldId="276"/>
            <ac:picMk id="5" creationId="{955DAA0E-6741-5C88-388D-196E8B72A650}"/>
          </ac:picMkLst>
        </pc:picChg>
        <pc:picChg chg="add del mod">
          <ac:chgData name="Michael McDonald" userId="066cc030-685a-4332-a595-fc2d5399ad89" providerId="ADAL" clId="{08ECF756-8AB2-5A44-99A3-F32CC9693761}" dt="2025-08-10T17:12:20.914" v="24" actId="478"/>
          <ac:picMkLst>
            <pc:docMk/>
            <pc:sldMk cId="1438501761" sldId="276"/>
            <ac:picMk id="7" creationId="{D185099F-9732-94E1-D57D-DA54A76D0AC6}"/>
          </ac:picMkLst>
        </pc:picChg>
      </pc:sldChg>
      <pc:sldChg chg="modSp mod">
        <pc:chgData name="Michael McDonald" userId="066cc030-685a-4332-a595-fc2d5399ad89" providerId="ADAL" clId="{08ECF756-8AB2-5A44-99A3-F32CC9693761}" dt="2025-08-10T17:17:53.559" v="342" actId="403"/>
        <pc:sldMkLst>
          <pc:docMk/>
          <pc:sldMk cId="1444879003" sldId="280"/>
        </pc:sldMkLst>
        <pc:spChg chg="mod">
          <ac:chgData name="Michael McDonald" userId="066cc030-685a-4332-a595-fc2d5399ad89" providerId="ADAL" clId="{08ECF756-8AB2-5A44-99A3-F32CC9693761}" dt="2025-08-10T17:17:53.559" v="342" actId="403"/>
          <ac:spMkLst>
            <pc:docMk/>
            <pc:sldMk cId="1444879003" sldId="280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DB545C-E2D3-1E44-815F-EE0F2C7C35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6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4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8C2AB-6C0D-CC4C-A714-9996932BD8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6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4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3DAC6-9278-4B47-BAD1-1EF579842AB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9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509533-E1F3-554A-9050-CA20C29F19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0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8396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44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6323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71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7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95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EB2E2824-1810-8846-8817-BD31A69E21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24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E536AC2B-57D3-E14C-9495-39580B3EE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3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D67EA553-1603-5F44-A828-5132E781E14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3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0" r:id="rId1"/>
    <p:sldLayoutId id="2147484341" r:id="rId2"/>
    <p:sldLayoutId id="2147484342" r:id="rId3"/>
    <p:sldLayoutId id="2147484343" r:id="rId4"/>
    <p:sldLayoutId id="2147484344" r:id="rId5"/>
    <p:sldLayoutId id="2147484345" r:id="rId6"/>
    <p:sldLayoutId id="2147484346" r:id="rId7"/>
    <p:sldLayoutId id="2147484347" r:id="rId8"/>
    <p:sldLayoutId id="2147484348" r:id="rId9"/>
    <p:sldLayoutId id="2147484349" r:id="rId10"/>
    <p:sldLayoutId id="2147484350" r:id="rId11"/>
    <p:sldLayoutId id="2147484351" r:id="rId12"/>
    <p:sldLayoutId id="2147484352" r:id="rId13"/>
    <p:sldLayoutId id="2147484353" r:id="rId14"/>
    <p:sldLayoutId id="2147484354" r:id="rId15"/>
    <p:sldLayoutId id="2147484355" r:id="rId16"/>
    <p:sldLayoutId id="2147484356" r:id="rId17"/>
    <p:sldLayoutId id="2147484357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coaps.fsu.edu/~mcdonald/software/nxclient.exe" TargetMode="Externa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help@coaps.fsu.edu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coaps.fsu.edu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mailto:help@coaps.fs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5400" dirty="0"/>
              <a:t>What is </a:t>
            </a:r>
            <a:r>
              <a:rPr lang="en-US" sz="5400" b="1" u="sng" dirty="0"/>
              <a:t>Linux</a:t>
            </a:r>
            <a:r>
              <a:rPr lang="en-US" sz="5400" dirty="0"/>
              <a:t>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2057400"/>
            <a:ext cx="8610600" cy="4068763"/>
          </a:xfrm>
        </p:spPr>
        <p:txBody>
          <a:bodyPr numCol="1"/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Computer operating system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200" dirty="0"/>
              <a:t>Open-source operating system modeled after UNIX.</a:t>
            </a:r>
          </a:p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Why Linux?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Multi-user platform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Powerful Computing Resource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Popular in Scientific Research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04800"/>
            <a:ext cx="6754223" cy="1506435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400" b="1" u="sng" dirty="0"/>
              <a:t>Getting Started </a:t>
            </a:r>
            <a:r>
              <a:rPr lang="en-US" sz="4400" dirty="0"/>
              <a:t>with LINUX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15733"/>
            <a:ext cx="7924799" cy="3450613"/>
          </a:xfrm>
        </p:spPr>
        <p:txBody>
          <a:bodyPr numCol="1"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4000" dirty="0"/>
              <a:t>Choose a System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Each server has a “hostname”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>
                <a:solidFill>
                  <a:schemeClr val="hlink"/>
                </a:solidFill>
              </a:rPr>
              <a:t>login, </a:t>
            </a:r>
            <a:r>
              <a:rPr lang="en-US" dirty="0" err="1">
                <a:solidFill>
                  <a:schemeClr val="hlink"/>
                </a:solidFill>
              </a:rPr>
              <a:t>pegasus</a:t>
            </a:r>
            <a:r>
              <a:rPr lang="en-US" dirty="0">
                <a:solidFill>
                  <a:schemeClr val="hlink"/>
                </a:solidFill>
              </a:rPr>
              <a:t>, enterprise, mars, </a:t>
            </a:r>
            <a:r>
              <a:rPr lang="en-US" dirty="0" err="1">
                <a:solidFill>
                  <a:schemeClr val="hlink"/>
                </a:solidFill>
              </a:rPr>
              <a:t>yucatan</a:t>
            </a:r>
            <a:r>
              <a:rPr lang="en-US" dirty="0">
                <a:solidFill>
                  <a:schemeClr val="hlink"/>
                </a:solidFill>
              </a:rPr>
              <a:t>, titan (.</a:t>
            </a:r>
            <a:r>
              <a:rPr lang="en-US" dirty="0" err="1">
                <a:solidFill>
                  <a:schemeClr val="hlink"/>
                </a:solidFill>
              </a:rPr>
              <a:t>coaps.fsu.edu</a:t>
            </a:r>
            <a:r>
              <a:rPr lang="en-US" dirty="0">
                <a:solidFill>
                  <a:schemeClr val="hlink"/>
                </a:solidFill>
              </a:rPr>
              <a:t>)</a:t>
            </a:r>
          </a:p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4000" dirty="0"/>
              <a:t>Login to the system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3600" dirty="0" err="1"/>
              <a:t>ssh</a:t>
            </a:r>
            <a:r>
              <a:rPr lang="en-US" sz="3600" dirty="0"/>
              <a:t> -Y </a:t>
            </a:r>
            <a:r>
              <a:rPr lang="en-US" sz="3600" i="1" dirty="0" err="1"/>
              <a:t>user@system</a:t>
            </a:r>
            <a:endParaRPr lang="en-US" sz="3600" i="1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Enter your COAPS </a:t>
            </a:r>
            <a:r>
              <a:rPr lang="en-US" b="1" dirty="0"/>
              <a:t>username</a:t>
            </a:r>
            <a:r>
              <a:rPr lang="en-US" dirty="0"/>
              <a:t> &amp; </a:t>
            </a:r>
            <a:r>
              <a:rPr lang="en-US" b="1" dirty="0"/>
              <a:t>password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i="1" dirty="0"/>
              <a:t>NOTE: This is different from your FSUID and is </a:t>
            </a:r>
            <a:r>
              <a:rPr lang="en-US" b="1" u="sng" dirty="0"/>
              <a:t>not</a:t>
            </a:r>
            <a:r>
              <a:rPr lang="en-US" i="1" dirty="0"/>
              <a:t> linked!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457200"/>
            <a:ext cx="6500112" cy="14732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400" b="1" i="1" u="sng" dirty="0"/>
              <a:t>CHANGING</a:t>
            </a:r>
            <a:r>
              <a:rPr lang="en-US" sz="4400" dirty="0"/>
              <a:t> YOUR LINUX PASSWORD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15733"/>
            <a:ext cx="7924799" cy="4385067"/>
          </a:xfrm>
        </p:spPr>
        <p:txBody>
          <a:bodyPr numCol="1">
            <a:normAutofit/>
          </a:bodyPr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4000" dirty="0" err="1"/>
              <a:t>yppasswd</a:t>
            </a:r>
            <a:endParaRPr lang="en-US" sz="4000" dirty="0"/>
          </a:p>
        </p:txBody>
      </p:sp>
      <p:sp>
        <p:nvSpPr>
          <p:cNvPr id="6148" name="Text Box 9"/>
          <p:cNvSpPr txBox="1">
            <a:spLocks noChangeArrowheads="1"/>
          </p:cNvSpPr>
          <p:nvPr/>
        </p:nvSpPr>
        <p:spPr>
          <a:xfrm>
            <a:off x="533400" y="2971800"/>
            <a:ext cx="701040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3200">
                <a:solidFill>
                  <a:schemeClr val="tx1"/>
                </a:solidFill>
                <a:latin typeface="Garamond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800">
                <a:solidFill>
                  <a:schemeClr val="tx1"/>
                </a:solidFill>
                <a:latin typeface="Garamond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n"/>
              <a:defRPr sz="2400">
                <a:solidFill>
                  <a:schemeClr val="tx1"/>
                </a:solidFill>
                <a:latin typeface="Garamond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US" sz="2000" b="1" dirty="0"/>
              <a:t>Bad choices for passwords: 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sz="1600" b="1" dirty="0"/>
              <a:t>Avoid words in any dictionary, or any prefix, suffix, etc. of such a word. Also, any concatenation of two or more such words. 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sz="1600" b="1" dirty="0"/>
              <a:t>Any personal information. For example: social security number, names of relatives, friends, significant others. Names of pets. Make, model, license plate number of a vehicle, etc.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sz="1600" b="1" dirty="0"/>
              <a:t>Any password that someone has suggested to you or that you've seen written down. 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sz="1600" b="1" dirty="0"/>
              <a:t>Any sequence of adjacent keys on the keyboard. For example, ”qwerty". </a:t>
            </a:r>
          </a:p>
          <a:p>
            <a:pPr>
              <a:spcBef>
                <a:spcPct val="0"/>
              </a:spcBef>
              <a:buClrTx/>
              <a:buSzTx/>
            </a:pPr>
            <a:r>
              <a:rPr lang="en-US" sz="2000" b="1" dirty="0"/>
              <a:t>Updates take several </a:t>
            </a:r>
            <a:r>
              <a:rPr lang="en-US" sz="2000" u="sng" dirty="0"/>
              <a:t>hours</a:t>
            </a:r>
            <a:r>
              <a:rPr lang="en-US" sz="2000" b="1" dirty="0"/>
              <a:t> to propagate to all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81000"/>
            <a:ext cx="6705600" cy="1549400"/>
          </a:xfrm>
        </p:spPr>
        <p:txBody>
          <a:bodyPr numCol="1">
            <a:normAutofit fontScale="90000"/>
          </a:bodyPr>
          <a:lstStyle/>
          <a:p>
            <a:pPr eaLnBrk="1" hangingPunct="1">
              <a:defRPr/>
            </a:pPr>
            <a:r>
              <a:rPr lang="en-US" sz="5400" dirty="0"/>
              <a:t>A good Password MUST: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620000" cy="3886200"/>
          </a:xfrm>
        </p:spPr>
        <p:txBody>
          <a:bodyPr numCol="1"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800" b="1" dirty="0">
                <a:effectLst/>
              </a:rPr>
              <a:t>Contain a mix of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400" b="1" dirty="0"/>
              <a:t>Lowercase Alphabetical (a, b, c, etc.)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400" b="1" dirty="0"/>
              <a:t>Uppercase Alphabetical (A, B, C, etc.)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400" b="1" dirty="0"/>
              <a:t>Numbers (0-9)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400" b="1" dirty="0"/>
              <a:t>Special Characters (@, %, !, etc.)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400" b="1" dirty="0"/>
              <a:t>Above group must all be represented in 1</a:t>
            </a:r>
            <a:r>
              <a:rPr lang="en-US" sz="3400" b="1" baseline="30000" dirty="0"/>
              <a:t>st</a:t>
            </a:r>
            <a:r>
              <a:rPr lang="en-US" sz="3400" b="1" dirty="0"/>
              <a:t> </a:t>
            </a:r>
            <a:r>
              <a:rPr lang="en-US" sz="3400" b="1" dirty="0">
                <a:effectLst/>
              </a:rPr>
              <a:t>eight characters of your password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221480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81000"/>
            <a:ext cx="6652512" cy="15494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000" b="1" u="sng" dirty="0" err="1"/>
              <a:t>Passwordless</a:t>
            </a:r>
            <a:r>
              <a:rPr lang="en-US" sz="4000" b="1" u="sng" dirty="0"/>
              <a:t> Login</a:t>
            </a:r>
            <a:r>
              <a:rPr lang="en-US" sz="4000" b="1" dirty="0"/>
              <a:t> </a:t>
            </a:r>
            <a:r>
              <a:rPr lang="en-US" sz="4000" dirty="0"/>
              <a:t>is Strongly Recommended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620000" cy="3886200"/>
          </a:xfrm>
        </p:spPr>
        <p:txBody>
          <a:bodyPr numCol="1">
            <a:normAutofit fontScale="47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400" b="1" dirty="0"/>
              <a:t>On local Terminal run the command </a:t>
            </a:r>
            <a:r>
              <a:rPr lang="en-US" sz="3400" b="1" u="sng" dirty="0" err="1"/>
              <a:t>ssh</a:t>
            </a:r>
            <a:r>
              <a:rPr lang="en-US" sz="3400" b="1" u="sng" dirty="0"/>
              <a:t>-keygen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200" b="1" dirty="0" err="1"/>
              <a:t>enter,enter,enter</a:t>
            </a:r>
            <a:r>
              <a:rPr lang="en-US" sz="3200" b="1" dirty="0"/>
              <a:t>…until done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400" b="1" dirty="0"/>
              <a:t>cat ~/.</a:t>
            </a:r>
            <a:r>
              <a:rPr lang="en-US" sz="3400" b="1" dirty="0" err="1"/>
              <a:t>ssh</a:t>
            </a:r>
            <a:r>
              <a:rPr lang="en-US" sz="3400" b="1" dirty="0"/>
              <a:t>/</a:t>
            </a:r>
            <a:r>
              <a:rPr lang="en-US" sz="3400" b="1" dirty="0" err="1"/>
              <a:t>id_rsa.pub</a:t>
            </a:r>
            <a:endParaRPr lang="en-US" sz="34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200" b="1" dirty="0"/>
              <a:t>Copy string to your clipboard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400" b="1" dirty="0"/>
              <a:t>On remote host</a:t>
            </a:r>
            <a:r>
              <a:rPr lang="en-US" sz="3200" b="1" dirty="0"/>
              <a:t> append the string contents to ~/.</a:t>
            </a:r>
            <a:r>
              <a:rPr lang="en-US" sz="3200" b="1" dirty="0" err="1"/>
              <a:t>ssh</a:t>
            </a:r>
            <a:r>
              <a:rPr lang="en-US" sz="3200" b="1" dirty="0"/>
              <a:t>/</a:t>
            </a:r>
            <a:r>
              <a:rPr lang="en-US" sz="3200" b="1" dirty="0" err="1"/>
              <a:t>authorized_keys</a:t>
            </a:r>
            <a:endParaRPr lang="en-US" sz="32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000" b="1" dirty="0"/>
              <a:t>cat &gt;&gt; </a:t>
            </a:r>
            <a:r>
              <a:rPr lang="en-US" sz="2800" b="1" dirty="0"/>
              <a:t>~/.</a:t>
            </a:r>
            <a:r>
              <a:rPr lang="en-US" sz="2800" b="1" dirty="0" err="1"/>
              <a:t>ssh</a:t>
            </a:r>
            <a:r>
              <a:rPr lang="en-US" sz="2800" b="1" dirty="0"/>
              <a:t>/</a:t>
            </a:r>
            <a:r>
              <a:rPr lang="en-US" sz="2800" b="1" dirty="0" err="1"/>
              <a:t>authorized_keys</a:t>
            </a:r>
            <a:endParaRPr lang="en-US" sz="28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000" b="1" i="1" dirty="0"/>
              <a:t>Paste clipboard contents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000" b="1" i="1" dirty="0"/>
              <a:t>Control + D to end cat input</a:t>
            </a:r>
            <a:endParaRPr lang="en-US" sz="32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200" b="1" dirty="0"/>
              <a:t>Ensure </a:t>
            </a:r>
            <a:r>
              <a:rPr lang="en-US" sz="3200" b="1" dirty="0" err="1"/>
              <a:t>authorized_keys</a:t>
            </a:r>
            <a:r>
              <a:rPr lang="en-US" sz="3200" b="1" dirty="0"/>
              <a:t> has proper permissions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000" b="1" dirty="0" err="1"/>
              <a:t>chmod</a:t>
            </a:r>
            <a:r>
              <a:rPr lang="en-US" sz="3000" b="1" dirty="0"/>
              <a:t> 600 </a:t>
            </a:r>
            <a:r>
              <a:rPr lang="en-US" sz="3200" b="1" dirty="0"/>
              <a:t>~/.</a:t>
            </a:r>
            <a:r>
              <a:rPr lang="en-US" sz="3200" b="1" dirty="0" err="1"/>
              <a:t>ssh</a:t>
            </a:r>
            <a:r>
              <a:rPr lang="en-US" sz="3200" b="1" dirty="0"/>
              <a:t>/</a:t>
            </a:r>
            <a:r>
              <a:rPr lang="en-US" sz="3200" b="1" dirty="0" err="1"/>
              <a:t>authorized_keys</a:t>
            </a:r>
            <a:endParaRPr lang="en-US" sz="3200" b="1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endParaRPr lang="en-US" sz="3200" b="1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6000" b="1" dirty="0"/>
              <a:t>OR use “</a:t>
            </a:r>
            <a:r>
              <a:rPr lang="en-US" sz="6000" b="1" dirty="0" err="1"/>
              <a:t>ssh</a:t>
            </a:r>
            <a:r>
              <a:rPr lang="en-US" sz="6000" b="1" dirty="0"/>
              <a:t>-copy-id </a:t>
            </a:r>
            <a:r>
              <a:rPr lang="en-US" sz="6000" b="1" dirty="0" err="1"/>
              <a:t>user@remotehost</a:t>
            </a:r>
            <a:r>
              <a:rPr lang="en-US" sz="6000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2977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81000"/>
            <a:ext cx="6576312" cy="1549400"/>
          </a:xfrm>
        </p:spPr>
        <p:txBody>
          <a:bodyPr numCol="1">
            <a:normAutofit/>
          </a:bodyPr>
          <a:lstStyle/>
          <a:p>
            <a:pPr>
              <a:defRPr/>
            </a:pPr>
            <a:r>
              <a:rPr lang="en-US" sz="4800" dirty="0"/>
              <a:t>Connecting </a:t>
            </a:r>
            <a:r>
              <a:rPr lang="en-US" sz="4800" b="1" u="sng" dirty="0"/>
              <a:t>Remotely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620000" cy="3886200"/>
          </a:xfrm>
        </p:spPr>
        <p:txBody>
          <a:bodyPr numCol="1"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800" b="1" dirty="0">
                <a:effectLst/>
              </a:rPr>
              <a:t>Use the </a:t>
            </a:r>
            <a:r>
              <a:rPr lang="en-US" sz="2800" b="1" u="sng" dirty="0">
                <a:effectLst/>
              </a:rPr>
              <a:t>login</a:t>
            </a:r>
            <a:r>
              <a:rPr lang="en-US" sz="2800" b="1" dirty="0">
                <a:effectLst/>
              </a:rPr>
              <a:t> server for external </a:t>
            </a:r>
            <a:r>
              <a:rPr lang="en-US" sz="2800" b="1" dirty="0" err="1">
                <a:effectLst/>
              </a:rPr>
              <a:t>ssh</a:t>
            </a:r>
            <a:r>
              <a:rPr lang="en-US" sz="2800" b="1" dirty="0">
                <a:effectLst/>
              </a:rPr>
              <a:t> access </a:t>
            </a:r>
            <a:r>
              <a:rPr lang="en-US" sz="2800" dirty="0">
                <a:effectLst/>
              </a:rPr>
              <a:t>(use </a:t>
            </a:r>
            <a:r>
              <a:rPr lang="en-US" sz="2800" dirty="0" err="1">
                <a:effectLst/>
              </a:rPr>
              <a:t>vpn.fsu</a:t>
            </a:r>
            <a:r>
              <a:rPr lang="en-US" sz="2800" dirty="0" err="1"/>
              <a:t>.edu</a:t>
            </a:r>
            <a:r>
              <a:rPr lang="en-US" sz="2800" dirty="0"/>
              <a:t> when possible)</a:t>
            </a:r>
            <a:endParaRPr lang="en-US" sz="2800" dirty="0">
              <a:effectLst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600" b="1" dirty="0">
                <a:effectLst/>
              </a:rPr>
              <a:t>(via non-FSU source addresses)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4800" b="1" dirty="0" err="1"/>
              <a:t>login.coaps.fsu.edu</a:t>
            </a:r>
            <a:endParaRPr lang="en-US" sz="48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2800" b="1" dirty="0"/>
              <a:t>Once connected you may connect to any other COAPS server*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n"/>
              <a:defRPr/>
            </a:pPr>
            <a:r>
              <a:rPr lang="en-US" sz="3000" b="1" dirty="0">
                <a:effectLst/>
              </a:rPr>
              <a:t>e.g., </a:t>
            </a:r>
            <a:r>
              <a:rPr lang="en-US" sz="3000" b="1" dirty="0" err="1">
                <a:effectLst/>
              </a:rPr>
              <a:t>ssh</a:t>
            </a:r>
            <a:r>
              <a:rPr lang="en-US" sz="3000" b="1" dirty="0">
                <a:effectLst/>
              </a:rPr>
              <a:t> –Y bfs-v11-yucatan</a:t>
            </a:r>
          </a:p>
        </p:txBody>
      </p:sp>
    </p:spTree>
    <p:extLst>
      <p:ext uri="{BB962C8B-B14F-4D97-AF65-F5344CB8AC3E}">
        <p14:creationId xmlns:p14="http://schemas.microsoft.com/office/powerpoint/2010/main" val="666073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086600" cy="1295400"/>
          </a:xfrm>
        </p:spPr>
        <p:txBody>
          <a:bodyPr numCol="1">
            <a:normAutofit fontScale="90000"/>
          </a:bodyPr>
          <a:lstStyle/>
          <a:p>
            <a:pPr eaLnBrk="1" hangingPunct="1">
              <a:defRPr/>
            </a:pPr>
            <a:r>
              <a:rPr lang="en-US" sz="4000" dirty="0"/>
              <a:t>Enabling Graphical </a:t>
            </a:r>
            <a:br>
              <a:rPr lang="en-US" sz="4000" dirty="0"/>
            </a:br>
            <a:r>
              <a:rPr lang="en-US" sz="4000" b="1" u="sng" dirty="0"/>
              <a:t>X11 Forwarding</a:t>
            </a:r>
            <a:endParaRPr lang="en-US" sz="4000" baseline="-250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7C988BB3-BEFC-4F4B-9EBD-256E24143234}"/>
              </a:ext>
            </a:extLst>
          </p:cNvPr>
          <p:cNvSpPr txBox="1">
            <a:spLocks/>
          </p:cNvSpPr>
          <p:nvPr/>
        </p:nvSpPr>
        <p:spPr>
          <a:xfrm>
            <a:off x="228600" y="1676400"/>
            <a:ext cx="8458200" cy="4449763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  <a:defRPr/>
            </a:pPr>
            <a:r>
              <a:rPr lang="en-US" sz="3600" dirty="0"/>
              <a:t>On </a:t>
            </a:r>
            <a:r>
              <a:rPr lang="en-US" sz="3600" b="1" u="sng" dirty="0"/>
              <a:t>PC / Windows</a:t>
            </a:r>
          </a:p>
          <a:p>
            <a:pPr fontAlgn="auto"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Use </a:t>
            </a:r>
            <a:r>
              <a:rPr lang="en-US" sz="3600" b="1" u="sng" dirty="0" err="1"/>
              <a:t>MobaXterm</a:t>
            </a:r>
            <a:r>
              <a:rPr lang="en-US" sz="3600" dirty="0"/>
              <a:t> (easier to use)</a:t>
            </a:r>
          </a:p>
          <a:p>
            <a:pPr marL="0" indent="0" fontAlgn="auto">
              <a:buNone/>
              <a:defRPr/>
            </a:pPr>
            <a:r>
              <a:rPr lang="en-US" sz="3600" dirty="0"/>
              <a:t>   OR</a:t>
            </a:r>
          </a:p>
          <a:p>
            <a:pPr fontAlgn="auto">
              <a:buFont typeface="Wingdings" panose="05000000000000000000" pitchFamily="2" charset="2"/>
              <a:buChar char="n"/>
              <a:defRPr/>
            </a:pPr>
            <a:r>
              <a:rPr lang="en-US" sz="3600" b="1" u="sng" dirty="0"/>
              <a:t>Putty</a:t>
            </a:r>
          </a:p>
          <a:p>
            <a:pPr lvl="1" fontAlgn="auto">
              <a:buFont typeface="Wingdings" panose="05000000000000000000" pitchFamily="2" charset="2"/>
              <a:buChar char="n"/>
              <a:defRPr/>
            </a:pPr>
            <a:r>
              <a:rPr lang="en-US" sz="3000" dirty="0"/>
              <a:t>Check </a:t>
            </a:r>
            <a:r>
              <a:rPr lang="en-US" sz="3000" b="1" dirty="0"/>
              <a:t>Enable X11 Forwarding</a:t>
            </a:r>
          </a:p>
          <a:p>
            <a:pPr fontAlgn="auto">
              <a:buFont typeface="Wingdings" panose="05000000000000000000" pitchFamily="2" charset="2"/>
              <a:buNone/>
              <a:defRPr/>
            </a:pPr>
            <a:r>
              <a:rPr lang="en-US" sz="3600" b="1" dirty="0"/>
              <a:t>	    Putty &gt; Connection &gt; SSH &gt; X11</a:t>
            </a:r>
          </a:p>
          <a:p>
            <a:pPr lvl="1" fontAlgn="auto">
              <a:buFont typeface="Wingdings" panose="05000000000000000000" pitchFamily="2" charset="2"/>
              <a:buChar char="n"/>
              <a:defRPr/>
            </a:pPr>
            <a:r>
              <a:rPr lang="en-US" sz="3400" b="1" u="sng" dirty="0"/>
              <a:t>Run </a:t>
            </a:r>
            <a:r>
              <a:rPr lang="en-US" sz="3400" b="1" u="sng" dirty="0" err="1"/>
              <a:t>Xming</a:t>
            </a:r>
            <a:r>
              <a:rPr lang="en-US" sz="3400" b="1" u="sng" dirty="0"/>
              <a:t> (add to </a:t>
            </a:r>
            <a:r>
              <a:rPr lang="en-US" sz="3400" b="1" u="sng" dirty="0" err="1"/>
              <a:t>shell:startup</a:t>
            </a:r>
            <a:r>
              <a:rPr lang="en-US" sz="3400" b="1" u="sng" dirty="0"/>
              <a:t>)</a:t>
            </a:r>
          </a:p>
          <a:p>
            <a:pPr fontAlgn="auto">
              <a:buFont typeface="Wingdings" panose="05000000000000000000" pitchFamily="2" charset="2"/>
              <a:buNone/>
              <a:defRPr/>
            </a:pPr>
            <a:r>
              <a:rPr lang="en-US" sz="3600" i="1" dirty="0"/>
              <a:t>	</a:t>
            </a:r>
          </a:p>
          <a:p>
            <a:pPr fontAlgn="auto">
              <a:buFont typeface="Wingdings" panose="05000000000000000000" pitchFamily="2" charset="2"/>
              <a:buNone/>
              <a:defRPr/>
            </a:pPr>
            <a:r>
              <a:rPr lang="en-US" sz="3600" i="1" dirty="0"/>
              <a:t>Advanced Tip: add the “</a:t>
            </a:r>
            <a:r>
              <a:rPr lang="en-US" sz="3600" i="1" dirty="0" err="1"/>
              <a:t>coaps.fsu.edu</a:t>
            </a:r>
            <a:r>
              <a:rPr lang="en-US" sz="3600" i="1" dirty="0"/>
              <a:t>” search domain to your network settings to save yourself keystrokes</a:t>
            </a:r>
          </a:p>
        </p:txBody>
      </p:sp>
    </p:spTree>
    <p:extLst>
      <p:ext uri="{BB962C8B-B14F-4D97-AF65-F5344CB8AC3E}">
        <p14:creationId xmlns:p14="http://schemas.microsoft.com/office/powerpoint/2010/main" val="1751337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53200" cy="1249362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dirty="0"/>
              <a:t>Enabling Graphical </a:t>
            </a:r>
            <a:br>
              <a:rPr lang="en-US" dirty="0"/>
            </a:br>
            <a:r>
              <a:rPr lang="en-US" b="1" u="sng" dirty="0"/>
              <a:t>X11 Forwarding</a:t>
            </a:r>
            <a:endParaRPr lang="en-US" baseline="-25000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28600" y="1676400"/>
            <a:ext cx="8458200" cy="4449763"/>
          </a:xfrm>
        </p:spPr>
        <p:txBody>
          <a:bodyPr numCol="1"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On </a:t>
            </a:r>
            <a:r>
              <a:rPr lang="en-US" sz="3600" b="1" u="sng" dirty="0"/>
              <a:t>macOS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3600" dirty="0"/>
              <a:t>Use the </a:t>
            </a:r>
            <a:r>
              <a:rPr lang="en-US" sz="3600" b="1" u="sng" dirty="0"/>
              <a:t>Terminal</a:t>
            </a:r>
            <a:r>
              <a:rPr lang="en-US" sz="3600" dirty="0"/>
              <a:t> Application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sz="4400" b="1" dirty="0" err="1"/>
              <a:t>ssh</a:t>
            </a:r>
            <a:r>
              <a:rPr lang="en-US" sz="4400" b="1" dirty="0"/>
              <a:t> -Y </a:t>
            </a:r>
            <a:r>
              <a:rPr lang="en-US" sz="4400" b="1" i="1" dirty="0" err="1"/>
              <a:t>user@system</a:t>
            </a:r>
            <a:endParaRPr lang="en-US" sz="4400" b="1" i="1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3600" i="1" dirty="0"/>
              <a:t>	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3600" i="1" dirty="0"/>
              <a:t>   add the “</a:t>
            </a:r>
            <a:r>
              <a:rPr lang="en-US" sz="3600" i="1" dirty="0" err="1"/>
              <a:t>coaps.fsu.edu</a:t>
            </a:r>
            <a:r>
              <a:rPr lang="en-US" sz="3600" i="1" dirty="0"/>
              <a:t>” </a:t>
            </a:r>
            <a:r>
              <a:rPr lang="en-US" sz="3600" b="1" i="1" dirty="0"/>
              <a:t>search domain</a:t>
            </a:r>
            <a:r>
              <a:rPr lang="en-US" sz="3600" i="1" dirty="0"/>
              <a:t> to your network setting to save yourself keystrokes (i.e., auto-completion/search of the domain name)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58000" cy="1173162"/>
          </a:xfrm>
        </p:spPr>
        <p:txBody>
          <a:bodyPr numCol="1">
            <a:normAutofit fontScale="90000"/>
          </a:bodyPr>
          <a:lstStyle/>
          <a:p>
            <a:pPr eaLnBrk="1" hangingPunct="1">
              <a:defRPr/>
            </a:pPr>
            <a:r>
              <a:rPr lang="en-US" sz="4400" dirty="0"/>
              <a:t>Running X11 Apps </a:t>
            </a:r>
            <a:r>
              <a:rPr lang="en-US" sz="4400" u="sng" dirty="0"/>
              <a:t>Remotely</a:t>
            </a:r>
            <a:br>
              <a:rPr lang="en-US" sz="4400" u="sng" dirty="0"/>
            </a:br>
            <a:r>
              <a:rPr lang="en-US" b="1" i="1" dirty="0">
                <a:solidFill>
                  <a:srgbClr val="FF0000"/>
                </a:solidFill>
              </a:rPr>
              <a:t>(legacy option, phasing out)</a:t>
            </a:r>
            <a:endParaRPr lang="en-US" sz="4400" b="1" i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04800" y="1600200"/>
            <a:ext cx="7467600" cy="4953000"/>
          </a:xfrm>
        </p:spPr>
        <p:txBody>
          <a:bodyPr numCol="1">
            <a:normAutofit/>
          </a:bodyPr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3200" dirty="0"/>
              <a:t>On </a:t>
            </a:r>
            <a:r>
              <a:rPr lang="en-US" sz="3200" b="1" dirty="0"/>
              <a:t>PC</a:t>
            </a:r>
          </a:p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3300" dirty="0"/>
              <a:t>Use </a:t>
            </a:r>
            <a:r>
              <a:rPr lang="en-US" sz="3300" dirty="0" err="1"/>
              <a:t>NoMachine</a:t>
            </a:r>
            <a:r>
              <a:rPr lang="en-US" sz="3300" dirty="0"/>
              <a:t> (NX) 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3100" dirty="0"/>
              <a:t>Legacy Client Only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3100" dirty="0"/>
              <a:t>Disable Check for Updates </a:t>
            </a:r>
          </a:p>
          <a:p>
            <a:pPr lvl="2">
              <a:buFont typeface="Wingdings" panose="05000000000000000000" pitchFamily="2" charset="2"/>
              <a:buChar char="n"/>
              <a:defRPr/>
            </a:pPr>
            <a:r>
              <a:rPr lang="en-US" sz="2900" b="1" dirty="0"/>
              <a:t>do not update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1800" dirty="0">
                <a:hlinkClick r:id="rId2"/>
              </a:rPr>
              <a:t>http://coaps.fsu.edu/~mcdonald/software/nxclient.exe</a:t>
            </a:r>
            <a:endParaRPr lang="en-US" sz="1800" dirty="0"/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sz="2600" dirty="0"/>
              <a:t>NX is only supported on</a:t>
            </a:r>
            <a:r>
              <a:rPr lang="en-US" sz="2600" b="1" dirty="0"/>
              <a:t> the following legacy compute nodes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400" b="1" dirty="0" err="1"/>
              <a:t>nx</a:t>
            </a:r>
            <a:r>
              <a:rPr lang="en-US" sz="2400" b="1" dirty="0"/>
              <a:t>, </a:t>
            </a:r>
            <a:r>
              <a:rPr lang="en-US" sz="2400" b="1" dirty="0" err="1"/>
              <a:t>pegasus</a:t>
            </a:r>
            <a:r>
              <a:rPr lang="en-US" sz="2400" b="1" dirty="0"/>
              <a:t>, enterprise</a:t>
            </a:r>
          </a:p>
        </p:txBody>
      </p:sp>
    </p:spTree>
    <p:extLst>
      <p:ext uri="{BB962C8B-B14F-4D97-AF65-F5344CB8AC3E}">
        <p14:creationId xmlns:p14="http://schemas.microsoft.com/office/powerpoint/2010/main" val="1792096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457200"/>
            <a:ext cx="6347713" cy="13208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5400" dirty="0"/>
              <a:t>Linux Commands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015733"/>
            <a:ext cx="8534399" cy="3450613"/>
          </a:xfrm>
        </p:spPr>
        <p:txBody>
          <a:bodyPr numCol="1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3600" b="1" i="1" dirty="0">
                <a:solidFill>
                  <a:srgbClr val="FF0000"/>
                </a:solidFill>
              </a:rPr>
              <a:t>Basic Form: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3200" dirty="0">
                <a:solidFill>
                  <a:schemeClr val="hlink"/>
                </a:solidFill>
              </a:rPr>
              <a:t>command [-options/flags] [arguments]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04800"/>
            <a:ext cx="6576312" cy="16256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400" b="1" dirty="0"/>
              <a:t>Essential</a:t>
            </a:r>
            <a:r>
              <a:rPr lang="en-US" sz="4400" dirty="0"/>
              <a:t> Linux Commands</a:t>
            </a: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228600" y="1853754"/>
            <a:ext cx="3886200" cy="4318445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ls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List the contents of a directory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cd</a:t>
            </a:r>
            <a:r>
              <a:rPr lang="en-US" dirty="0"/>
              <a:t> </a:t>
            </a:r>
            <a:r>
              <a:rPr i="1" dirty="0"/>
              <a:t>directory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Change directory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cp</a:t>
            </a:r>
            <a:r>
              <a:rPr lang="en-US" dirty="0"/>
              <a:t> </a:t>
            </a:r>
            <a:r>
              <a:rPr i="1" dirty="0" err="1"/>
              <a:t>fileA</a:t>
            </a:r>
            <a:r>
              <a:rPr i="1" dirty="0"/>
              <a:t> </a:t>
            </a:r>
            <a:r>
              <a:rPr i="1" dirty="0" err="1"/>
              <a:t>fileB</a:t>
            </a:r>
            <a:endParaRPr lang="en-US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Copy a file/directory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mv</a:t>
            </a:r>
            <a:r>
              <a:rPr lang="en-US" dirty="0"/>
              <a:t> </a:t>
            </a:r>
            <a:r>
              <a:rPr i="1" dirty="0" err="1"/>
              <a:t>fileA</a:t>
            </a:r>
            <a:r>
              <a:rPr i="1" dirty="0"/>
              <a:t> </a:t>
            </a:r>
            <a:r>
              <a:rPr i="1" dirty="0" err="1"/>
              <a:t>fileB</a:t>
            </a:r>
            <a:endParaRPr i="1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Move a file/directory.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exit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Exit the system (Ctrl + D)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853754"/>
            <a:ext cx="3886200" cy="4318445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lp</a:t>
            </a:r>
            <a:r>
              <a:rPr lang="en-US" dirty="0"/>
              <a:t> </a:t>
            </a:r>
            <a:r>
              <a:rPr i="1" dirty="0" err="1"/>
              <a:t>filename.ps</a:t>
            </a:r>
            <a:endParaRPr lang="en-US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Print file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mkdir</a:t>
            </a:r>
            <a:r>
              <a:rPr lang="en-US" dirty="0"/>
              <a:t> </a:t>
            </a:r>
            <a:r>
              <a:rPr i="1" dirty="0" err="1"/>
              <a:t>dirname</a:t>
            </a:r>
            <a:endParaRPr lang="en-US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Make directory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df</a:t>
            </a:r>
            <a:r>
              <a:rPr lang="en-US" dirty="0" err="1"/>
              <a:t> .</a:t>
            </a:r>
            <a:endParaRPr lang="en-US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Check disk space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rm</a:t>
            </a:r>
            <a:r>
              <a:rPr lang="en-US" dirty="0"/>
              <a:t> </a:t>
            </a:r>
            <a:r>
              <a:rPr i="1" dirty="0"/>
              <a:t>file</a:t>
            </a:r>
            <a:endParaRPr lang="en-US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Remove file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/>
              <a:t>man</a:t>
            </a:r>
            <a:r>
              <a:rPr lang="en-US" dirty="0"/>
              <a:t> </a:t>
            </a:r>
            <a:r>
              <a:rPr i="1" dirty="0"/>
              <a:t>command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Manual for each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81000"/>
            <a:ext cx="6576312" cy="15494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400" dirty="0"/>
              <a:t>Additional Linux Commands</a:t>
            </a: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381000" y="1853754"/>
            <a:ext cx="6858000" cy="4470846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cat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Dump or Concatenate file(s)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whoami</a:t>
            </a:r>
            <a:endParaRPr lang="en-US" b="1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Prints current username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/>
              <a:t>top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Real time display of processes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/>
              <a:t>atop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Advanced system dashboard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b="1" dirty="0"/>
              <a:t>alias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dirty="0"/>
              <a:t>List / Create shortcuts for commands</a:t>
            </a:r>
          </a:p>
          <a:p>
            <a:pPr marL="457200" lvl="1" indent="0">
              <a:spcAft>
                <a:spcPts val="0"/>
              </a:spcAft>
              <a:buNone/>
              <a:defRPr/>
            </a:pPr>
            <a:endParaRPr lang="en-US" dirty="0"/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5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 sz="quarter"/>
          </p:nvPr>
        </p:nvSpPr>
        <p:spPr>
          <a:xfrm>
            <a:off x="457200" y="274638"/>
            <a:ext cx="6656798" cy="11430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800" dirty="0"/>
              <a:t>Your Home Directory</a:t>
            </a:r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>
          <a:xfrm>
            <a:off x="451207" y="3505200"/>
            <a:ext cx="6629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3200">
                <a:solidFill>
                  <a:schemeClr val="tx1"/>
                </a:solidFill>
                <a:latin typeface="Garamond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800">
                <a:solidFill>
                  <a:schemeClr val="tx1"/>
                </a:solidFill>
                <a:latin typeface="Garamond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n"/>
              <a:defRPr sz="2400">
                <a:solidFill>
                  <a:schemeClr val="tx1"/>
                </a:solidFill>
                <a:latin typeface="Garamond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 typeface="Wingdings" charset="2"/>
              <a:buChar char="ü"/>
            </a:pPr>
            <a:r>
              <a:rPr lang="en-US" sz="1800" b="1" dirty="0"/>
              <a:t>Your </a:t>
            </a:r>
            <a:r>
              <a:rPr lang="en-US" sz="1800" b="1" dirty="0" err="1"/>
              <a:t>pwd</a:t>
            </a:r>
            <a:r>
              <a:rPr lang="en-US" sz="1800" b="1" dirty="0"/>
              <a:t> when you log into any system.</a:t>
            </a:r>
          </a:p>
          <a:p>
            <a:pPr marL="0" lvl="1" indent="0">
              <a:spcBef>
                <a:spcPct val="50000"/>
              </a:spcBef>
              <a:buClrTx/>
              <a:buSzTx/>
              <a:buFont typeface="Wingdings" charset="2"/>
              <a:buChar char="ü"/>
            </a:pPr>
            <a:r>
              <a:rPr lang="en-US" sz="1800" b="1" dirty="0"/>
              <a:t>Your environment setup files and other files are stored here.</a:t>
            </a:r>
          </a:p>
          <a:p>
            <a:pPr>
              <a:spcBef>
                <a:spcPct val="50000"/>
              </a:spcBef>
              <a:buClrTx/>
              <a:buSzTx/>
              <a:buFont typeface="Wingdings" charset="2"/>
              <a:buChar char="ü"/>
            </a:pPr>
            <a:r>
              <a:rPr lang="en-US" sz="1800" b="1" dirty="0"/>
              <a:t>Each user has only one home directory.  No matter which system, the user accesses the same home directory.</a:t>
            </a:r>
          </a:p>
          <a:p>
            <a:pPr>
              <a:spcBef>
                <a:spcPct val="50000"/>
              </a:spcBef>
              <a:buClrTx/>
              <a:buSzTx/>
              <a:buFont typeface="Wingdings" charset="2"/>
              <a:buChar char="ü"/>
            </a:pPr>
            <a:r>
              <a:rPr lang="en-US" sz="1800" b="1" dirty="0"/>
              <a:t>A place to store </a:t>
            </a:r>
            <a:r>
              <a:rPr lang="en-US" sz="1800" b="1" u="sng" dirty="0"/>
              <a:t>important</a:t>
            </a:r>
            <a:r>
              <a:rPr lang="en-US" sz="1800" b="1" dirty="0"/>
              <a:t> documentation, programs, etc.</a:t>
            </a:r>
          </a:p>
          <a:p>
            <a:pPr>
              <a:spcBef>
                <a:spcPct val="50000"/>
              </a:spcBef>
              <a:buClrTx/>
              <a:buSzTx/>
              <a:buFont typeface="Wingdings" charset="2"/>
              <a:buChar char="ü"/>
            </a:pPr>
            <a:r>
              <a:rPr lang="en-US" sz="1800" b="1" dirty="0"/>
              <a:t>Data in your home directory is backed up daily!</a:t>
            </a:r>
          </a:p>
        </p:txBody>
      </p:sp>
      <p:sp>
        <p:nvSpPr>
          <p:cNvPr id="25" name="Content Placeholder 3"/>
          <p:cNvSpPr txBox="1">
            <a:spLocks/>
          </p:cNvSpPr>
          <p:nvPr/>
        </p:nvSpPr>
        <p:spPr>
          <a:xfrm>
            <a:off x="381000" y="1417638"/>
            <a:ext cx="6934200" cy="1858962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800" b="1" dirty="0"/>
              <a:t>~/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800" b="1" dirty="0"/>
              <a:t>~username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 sz="quarter"/>
          </p:nvPr>
        </p:nvSpPr>
        <p:spPr>
          <a:xfrm>
            <a:off x="457200" y="274638"/>
            <a:ext cx="6656798" cy="1143000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800" dirty="0"/>
              <a:t>COAPS Compute Nodes</a:t>
            </a:r>
          </a:p>
        </p:txBody>
      </p:sp>
      <p:sp>
        <p:nvSpPr>
          <p:cNvPr id="25" name="Content Placeholder 3"/>
          <p:cNvSpPr txBox="1">
            <a:spLocks/>
          </p:cNvSpPr>
          <p:nvPr/>
        </p:nvSpPr>
        <p:spPr>
          <a:xfrm>
            <a:off x="381000" y="1417638"/>
            <a:ext cx="6934200" cy="5059362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800" dirty="0"/>
              <a:t>Fedora Core (latest OS and software, e.g., python3)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{mars, </a:t>
            </a:r>
            <a:r>
              <a:rPr lang="en-US" b="1" dirty="0" err="1"/>
              <a:t>yucatan</a:t>
            </a:r>
            <a:r>
              <a:rPr lang="en-US" b="1" dirty="0"/>
              <a:t>}</a:t>
            </a:r>
            <a:r>
              <a:rPr lang="en-US" dirty="0"/>
              <a:t>.coaps.fsu.edu</a:t>
            </a:r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Each have </a:t>
            </a:r>
            <a:r>
              <a:rPr lang="en-US" b="1" dirty="0"/>
              <a:t>512GB</a:t>
            </a:r>
            <a:r>
              <a:rPr lang="en-US" dirty="0"/>
              <a:t> RAM, </a:t>
            </a:r>
            <a:r>
              <a:rPr lang="en-US" b="1" dirty="0"/>
              <a:t>96</a:t>
            </a:r>
            <a:r>
              <a:rPr lang="en-US" dirty="0"/>
              <a:t> cores, </a:t>
            </a:r>
            <a:r>
              <a:rPr lang="en-US" b="1" dirty="0" err="1"/>
              <a:t>Matlab</a:t>
            </a:r>
            <a:r>
              <a:rPr lang="en-US" dirty="0"/>
              <a:t>, compilers. 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800" dirty="0"/>
              <a:t>RHEL 6 (legacy </a:t>
            </a:r>
            <a:r>
              <a:rPr lang="en-US" sz="1800" dirty="0" err="1"/>
              <a:t>EoL</a:t>
            </a:r>
            <a:r>
              <a:rPr lang="en-US" sz="1800" dirty="0"/>
              <a:t> computing applications)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{</a:t>
            </a:r>
            <a:r>
              <a:rPr lang="en-US" b="1" dirty="0"/>
              <a:t>enterprise</a:t>
            </a:r>
            <a:r>
              <a:rPr lang="en-US" dirty="0"/>
              <a:t>, </a:t>
            </a:r>
            <a:r>
              <a:rPr lang="en-US" b="1" dirty="0" err="1"/>
              <a:t>pegasus</a:t>
            </a:r>
            <a:r>
              <a:rPr lang="en-US" dirty="0"/>
              <a:t>}.</a:t>
            </a:r>
            <a:r>
              <a:rPr lang="en-US" dirty="0" err="1"/>
              <a:t>coaps.fsu.edu</a:t>
            </a:r>
            <a:endParaRPr lang="en-US" dirty="0"/>
          </a:p>
          <a:p>
            <a:pPr lvl="2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/>
              <a:t>Each have </a:t>
            </a:r>
            <a:r>
              <a:rPr lang="en-US" b="1" dirty="0"/>
              <a:t>256GB</a:t>
            </a:r>
            <a:r>
              <a:rPr lang="en-US" dirty="0"/>
              <a:t> RAM, </a:t>
            </a:r>
            <a:r>
              <a:rPr lang="en-US" b="1" dirty="0"/>
              <a:t>64</a:t>
            </a:r>
            <a:r>
              <a:rPr lang="en-US" dirty="0"/>
              <a:t> cores , legacy </a:t>
            </a:r>
            <a:r>
              <a:rPr lang="en-US" b="1" dirty="0" err="1"/>
              <a:t>Matlab</a:t>
            </a:r>
            <a:r>
              <a:rPr lang="en-US" dirty="0"/>
              <a:t>, compilers. 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800" dirty="0"/>
              <a:t>Dedicated Resources for Groups/Applications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 err="1"/>
              <a:t>skynet</a:t>
            </a:r>
            <a:r>
              <a:rPr lang="en-US" sz="1400" dirty="0"/>
              <a:t> (GPU Computations)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titan</a:t>
            </a:r>
            <a:r>
              <a:rPr lang="en-US" dirty="0"/>
              <a:t> (Mark Bourassa Group)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monsoon</a:t>
            </a:r>
            <a:r>
              <a:rPr lang="en-US" dirty="0"/>
              <a:t>, </a:t>
            </a:r>
            <a:r>
              <a:rPr lang="en-US" b="1" dirty="0" err="1"/>
              <a:t>elninio</a:t>
            </a:r>
            <a:r>
              <a:rPr lang="en-US" dirty="0"/>
              <a:t> (Vasu </a:t>
            </a:r>
            <a:r>
              <a:rPr lang="en-US" dirty="0" err="1"/>
              <a:t>Misra</a:t>
            </a:r>
            <a:r>
              <a:rPr lang="en-US" dirty="0"/>
              <a:t> Group)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dirty="0" err="1"/>
              <a:t>samos</a:t>
            </a:r>
            <a:r>
              <a:rPr lang="en-US" dirty="0"/>
              <a:t>-*, mdc-* (Shawn Smith)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1800" dirty="0"/>
              <a:t>Remote off-campus SSH Access </a:t>
            </a:r>
            <a:r>
              <a:rPr lang="en-US" sz="1800" b="1" dirty="0"/>
              <a:t>w/o VPN privileges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b="1" dirty="0"/>
              <a:t>SSH Gateway / “jump host” = </a:t>
            </a:r>
            <a:r>
              <a:rPr lang="en-US" b="1" dirty="0" err="1"/>
              <a:t>login</a:t>
            </a:r>
            <a:r>
              <a:rPr lang="en-US" dirty="0" err="1"/>
              <a:t>.coaps.fsu.edu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879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Box 7"/>
          <p:cNvSpPr txBox="1">
            <a:spLocks noChangeArrowheads="1"/>
          </p:cNvSpPr>
          <p:nvPr/>
        </p:nvSpPr>
        <p:spPr>
          <a:xfrm>
            <a:off x="152400" y="76200"/>
            <a:ext cx="73152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3200">
                <a:solidFill>
                  <a:schemeClr val="tx1"/>
                </a:solidFill>
                <a:latin typeface="Garamond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800">
                <a:solidFill>
                  <a:schemeClr val="tx1"/>
                </a:solidFill>
                <a:latin typeface="Garamond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n"/>
              <a:defRPr sz="2400">
                <a:solidFill>
                  <a:schemeClr val="tx1"/>
                </a:solidFill>
                <a:latin typeface="Garamond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Friendly Computing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</a:rPr>
              <a:t>Resources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</a:rPr>
              <a:t>: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/>
              <a:t>Storage, Memory, CPUs</a:t>
            </a:r>
            <a:endParaRPr lang="en-US" sz="4000" b="1" i="1" dirty="0"/>
          </a:p>
        </p:txBody>
      </p:sp>
      <p:sp>
        <p:nvSpPr>
          <p:cNvPr id="15364" name="TextBox 8"/>
          <p:cNvSpPr txBox="1">
            <a:spLocks noChangeArrowheads="1"/>
          </p:cNvSpPr>
          <p:nvPr/>
        </p:nvSpPr>
        <p:spPr>
          <a:xfrm>
            <a:off x="228600" y="1591551"/>
            <a:ext cx="8610600" cy="473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3200">
                <a:solidFill>
                  <a:schemeClr val="tx1"/>
                </a:solidFill>
                <a:latin typeface="Garamond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800">
                <a:solidFill>
                  <a:schemeClr val="tx1"/>
                </a:solidFill>
                <a:latin typeface="Garamond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n"/>
              <a:defRPr sz="2400">
                <a:solidFill>
                  <a:schemeClr val="tx1"/>
                </a:solidFill>
                <a:latin typeface="Garamond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b="1" dirty="0"/>
              <a:t>Shared Disk Storage:</a:t>
            </a:r>
          </a:p>
          <a:p>
            <a:pPr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Periodically clean up disk allocations</a:t>
            </a:r>
          </a:p>
          <a:p>
            <a:pPr lvl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Remove any old / never used / data folders / etc.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b="1" dirty="0"/>
              <a:t>Shared CPU / RAM:</a:t>
            </a:r>
          </a:p>
          <a:p>
            <a:pPr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 run large (long running) jobs </a:t>
            </a:r>
            <a:r>
              <a:rPr lang="en-US" sz="2800" b="1" u="sng" dirty="0">
                <a:solidFill>
                  <a:srgbClr val="FF0000"/>
                </a:solidFill>
              </a:rPr>
              <a:t>off</a:t>
            </a:r>
            <a:r>
              <a:rPr lang="en-US" sz="2800" b="1" dirty="0">
                <a:solidFill>
                  <a:srgbClr val="FF0000"/>
                </a:solidFill>
              </a:rPr>
              <a:t> peak hours</a:t>
            </a:r>
          </a:p>
          <a:p>
            <a:pPr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 release memory when a job finishes </a:t>
            </a:r>
          </a:p>
          <a:p>
            <a:pPr lvl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Quit Applications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b="1" dirty="0" err="1">
                <a:solidFill>
                  <a:srgbClr val="FF0000"/>
                </a:solidFill>
              </a:rPr>
              <a:t>Matlab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idl</a:t>
            </a:r>
            <a:r>
              <a:rPr lang="en-US" sz="2400" b="1" dirty="0">
                <a:solidFill>
                  <a:srgbClr val="FF0000"/>
                </a:solidFill>
              </a:rPr>
              <a:t>, etc. </a:t>
            </a:r>
            <a:r>
              <a:rPr lang="en-US" sz="2400" b="1" u="sng" dirty="0">
                <a:solidFill>
                  <a:srgbClr val="FF0000"/>
                </a:solidFill>
              </a:rPr>
              <a:t>when not in use!</a:t>
            </a:r>
          </a:p>
          <a:p>
            <a:pPr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Do not over-parallelize programs </a:t>
            </a:r>
          </a:p>
          <a:p>
            <a:pPr lvl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total CPU/core count  * .90 = max || processes </a:t>
            </a:r>
          </a:p>
          <a:p>
            <a:pPr lvl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US" b="1" i="1" dirty="0">
                <a:solidFill>
                  <a:srgbClr val="FF0000"/>
                </a:solidFill>
              </a:rPr>
              <a:t>i.e., reserve 10% for system processing overhead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228600"/>
            <a:ext cx="6857999" cy="1295400"/>
          </a:xfrm>
        </p:spPr>
        <p:txBody>
          <a:bodyPr numCol="1">
            <a:normAutofit/>
          </a:bodyPr>
          <a:lstStyle/>
          <a:p>
            <a:pPr>
              <a:defRPr/>
            </a:pPr>
            <a:r>
              <a:rPr lang="en-US" sz="4400" dirty="0"/>
              <a:t>Check </a:t>
            </a:r>
            <a:r>
              <a:rPr lang="en-US" sz="4400" b="1" u="sng" dirty="0"/>
              <a:t>DISK</a:t>
            </a:r>
            <a:r>
              <a:rPr lang="en-US" sz="4400" dirty="0"/>
              <a:t>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524000"/>
            <a:ext cx="6705599" cy="2438400"/>
          </a:xfrm>
        </p:spPr>
        <p:txBody>
          <a:bodyPr numCol="1"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n"/>
              <a:defRPr/>
            </a:pPr>
            <a:r>
              <a:rPr lang="en-US" sz="4000" dirty="0">
                <a:solidFill>
                  <a:schemeClr val="accent5"/>
                </a:solidFill>
              </a:rPr>
              <a:t>df -</a:t>
            </a:r>
            <a:r>
              <a:rPr lang="en-US" sz="4000" dirty="0" err="1">
                <a:solidFill>
                  <a:schemeClr val="accent5"/>
                </a:solidFill>
              </a:rPr>
              <a:t>hP</a:t>
            </a:r>
            <a:endParaRPr lang="en-US" sz="4000" dirty="0">
              <a:solidFill>
                <a:schemeClr val="accent5"/>
              </a:solidFill>
            </a:endParaRP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report file system disk space usage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For current directory</a:t>
            </a:r>
            <a:br>
              <a:rPr lang="en-US" sz="3600" dirty="0"/>
            </a:b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hP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endParaRPr lang="en-US" sz="4000" dirty="0">
              <a:solidFill>
                <a:schemeClr val="accent1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388" name="TextBox 3"/>
          <p:cNvSpPr txBox="1">
            <a:spLocks noChangeArrowheads="1"/>
          </p:cNvSpPr>
          <p:nvPr/>
        </p:nvSpPr>
        <p:spPr>
          <a:xfrm>
            <a:off x="381000" y="4114800"/>
            <a:ext cx="80772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3200">
                <a:solidFill>
                  <a:schemeClr val="tx1"/>
                </a:solidFill>
                <a:latin typeface="Garamond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800">
                <a:solidFill>
                  <a:schemeClr val="tx1"/>
                </a:solidFill>
                <a:latin typeface="Garamond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charset="2"/>
              <a:buChar char="n"/>
              <a:defRPr sz="2400">
                <a:solidFill>
                  <a:schemeClr val="tx1"/>
                </a:solidFill>
                <a:latin typeface="Garamond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charset="2"/>
              <a:buChar char="n"/>
              <a:defRPr sz="2000">
                <a:solidFill>
                  <a:schemeClr val="tx1"/>
                </a:solidFill>
                <a:latin typeface="Garamond" charset="0"/>
              </a:defRPr>
            </a:lvl9pPr>
          </a:lstStyle>
          <a:p>
            <a:r>
              <a:rPr lang="en-US" sz="2000" dirty="0"/>
              <a:t> </a:t>
            </a:r>
            <a:r>
              <a:rPr lang="en-US" sz="2000" b="1" dirty="0" err="1"/>
              <a:t>df</a:t>
            </a:r>
            <a:r>
              <a:rPr lang="en-US" sz="2000" b="1" dirty="0"/>
              <a:t> -</a:t>
            </a:r>
            <a:r>
              <a:rPr lang="en-US" sz="2000" b="1" dirty="0" err="1"/>
              <a:t>hP</a:t>
            </a:r>
            <a:endParaRPr lang="en-US" sz="2000" b="1" dirty="0"/>
          </a:p>
          <a:p>
            <a:r>
              <a:rPr lang="en-US" sz="2000" dirty="0"/>
              <a:t>Filesystem                             Size  Used Avail Use% Mounted on</a:t>
            </a:r>
          </a:p>
          <a:p>
            <a:r>
              <a:rPr lang="de-DE" altLang="de-DE" sz="2000" dirty="0"/>
              <a:t>/</a:t>
            </a:r>
            <a:r>
              <a:rPr lang="de-DE" altLang="de-DE" sz="2000" dirty="0" err="1"/>
              <a:t>dev</a:t>
            </a:r>
            <a:r>
              <a:rPr lang="de-DE" altLang="de-DE" sz="2000" dirty="0"/>
              <a:t>/sda3                               42G  8.8G   31G  23% /</a:t>
            </a:r>
          </a:p>
          <a:p>
            <a:r>
              <a:rPr lang="de-DE" altLang="de-DE" sz="2000" dirty="0" err="1"/>
              <a:t>tmpfs</a:t>
            </a:r>
            <a:r>
              <a:rPr lang="de-DE" altLang="de-DE" sz="2000" dirty="0"/>
              <a:t>                                   64G  120K   64G   1% /</a:t>
            </a:r>
            <a:r>
              <a:rPr lang="de-DE" altLang="de-DE" sz="2000" dirty="0" err="1"/>
              <a:t>dev</a:t>
            </a:r>
            <a:r>
              <a:rPr lang="de-DE" altLang="de-DE" sz="2000" dirty="0"/>
              <a:t>/</a:t>
            </a:r>
            <a:r>
              <a:rPr lang="de-DE" altLang="de-DE" sz="2000" dirty="0" err="1"/>
              <a:t>shm</a:t>
            </a:r>
            <a:endParaRPr lang="de-DE" altLang="de-DE" sz="2000" dirty="0"/>
          </a:p>
          <a:p>
            <a:r>
              <a:rPr lang="de-DE" altLang="de-DE" sz="2000" dirty="0"/>
              <a:t>/</a:t>
            </a:r>
            <a:r>
              <a:rPr lang="de-DE" altLang="de-DE" sz="2000" dirty="0" err="1"/>
              <a:t>dev</a:t>
            </a:r>
            <a:r>
              <a:rPr lang="de-DE" altLang="de-DE" sz="2000" dirty="0"/>
              <a:t>/sda1                              976M  109M  816M  12% /</a:t>
            </a:r>
            <a:r>
              <a:rPr lang="de-DE" altLang="de-DE" sz="2000" dirty="0" err="1"/>
              <a:t>boot</a:t>
            </a:r>
            <a:endParaRPr lang="de-DE" altLang="de-DE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6571343" cy="1049235"/>
          </a:xfrm>
        </p:spPr>
        <p:txBody>
          <a:bodyPr numCol="1">
            <a:normAutofit fontScale="90000"/>
          </a:bodyPr>
          <a:lstStyle/>
          <a:p>
            <a:pPr>
              <a:defRPr/>
            </a:pPr>
            <a:r>
              <a:rPr lang="en-US" sz="4000" dirty="0"/>
              <a:t>Check System CPU/MEM LOAD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62000" y="2479470"/>
            <a:ext cx="6037790" cy="3881437"/>
          </a:xfr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125434"/>
            <a:ext cx="6400800" cy="1160565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 fontScale="85000" lnSpcReduction="10000"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4000" dirty="0">
                <a:solidFill>
                  <a:schemeClr val="accent5"/>
                </a:solidFill>
              </a:rPr>
              <a:t>top</a:t>
            </a:r>
            <a:r>
              <a:rPr lang="en-US" sz="4000" dirty="0">
                <a:solidFill>
                  <a:srgbClr val="FFFF00"/>
                </a:solidFill>
              </a:rPr>
              <a:t> </a:t>
            </a:r>
            <a:r>
              <a:rPr lang="en-US" sz="4000" dirty="0"/>
              <a:t>: </a:t>
            </a:r>
            <a:r>
              <a:rPr lang="en-US" sz="3600" dirty="0"/>
              <a:t>display Linux tasks</a:t>
            </a:r>
            <a:endParaRPr lang="en-US" sz="4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Also see: </a:t>
            </a:r>
            <a:r>
              <a:rPr lang="en-US" sz="3200" dirty="0" err="1"/>
              <a:t>htop</a:t>
            </a:r>
            <a:r>
              <a:rPr lang="en-US" sz="3200" dirty="0"/>
              <a:t>, atop, glances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571343" cy="1049235"/>
          </a:xfrm>
        </p:spPr>
        <p:txBody>
          <a:bodyPr numCol="1">
            <a:normAutofit/>
          </a:bodyPr>
          <a:lstStyle/>
          <a:p>
            <a:pPr>
              <a:defRPr/>
            </a:pPr>
            <a:r>
              <a:rPr lang="en-US" sz="4000" dirty="0"/>
              <a:t>Check WHO IS LOGGED IN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43" y="3124200"/>
            <a:ext cx="6348413" cy="2846292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342900" y="973034"/>
            <a:ext cx="6896100" cy="2074966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4000" dirty="0">
                <a:solidFill>
                  <a:schemeClr val="accent5"/>
                </a:solidFill>
              </a:rPr>
              <a:t>w</a:t>
            </a:r>
            <a:r>
              <a:rPr lang="en-US" sz="4000" dirty="0"/>
              <a:t> - </a:t>
            </a:r>
            <a:r>
              <a:rPr lang="en-US" sz="3600" dirty="0"/>
              <a:t>Show who is logged on and what they are doing.</a:t>
            </a:r>
            <a:endParaRPr lang="en-US" sz="4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1" y="381000"/>
            <a:ext cx="6652511" cy="1066800"/>
          </a:xfrm>
        </p:spPr>
        <p:txBody>
          <a:bodyPr numCol="1">
            <a:normAutofit fontScale="90000"/>
          </a:bodyPr>
          <a:lstStyle/>
          <a:p>
            <a:pPr eaLnBrk="1" hangingPunct="1">
              <a:defRPr/>
            </a:pPr>
            <a:r>
              <a:rPr lang="en-US" sz="4400" dirty="0"/>
              <a:t>Advanced LINUX Commands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04801" y="1524000"/>
            <a:ext cx="7467599" cy="5029200"/>
          </a:xfrm>
        </p:spPr>
        <p:txBody>
          <a:bodyPr numCol="1"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accent5"/>
                </a:solidFill>
                <a:latin typeface="Tahoma" charset="0"/>
                <a:ea typeface="Tahoma" charset="0"/>
                <a:cs typeface="Tahoma" charset="0"/>
              </a:rPr>
              <a:t>find path [expression]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dirty="0">
              <a:solidFill>
                <a:schemeClr val="accent5"/>
              </a:solidFill>
              <a:latin typeface="Tahoma" charset="0"/>
              <a:ea typeface="Tahoma" charset="0"/>
              <a:cs typeface="Tahoma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accent5"/>
                </a:solidFill>
                <a:latin typeface="Tahoma" charset="0"/>
                <a:ea typeface="Tahoma" charset="0"/>
                <a:cs typeface="Tahoma" charset="0"/>
              </a:rPr>
              <a:t>diff file1 file2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meld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400" dirty="0">
              <a:latin typeface="Tahoma" charset="0"/>
              <a:ea typeface="Tahoma" charset="0"/>
              <a:cs typeface="Tahoma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rgbClr val="0070C0"/>
                </a:solidFill>
                <a:latin typeface="Tahoma" charset="0"/>
                <a:ea typeface="Tahoma" charset="0"/>
                <a:cs typeface="Tahoma" charset="0"/>
              </a:rPr>
              <a:t>G</a:t>
            </a:r>
            <a:r>
              <a:rPr lang="en-US" sz="2400" dirty="0">
                <a:solidFill>
                  <a:srgbClr val="FF0000"/>
                </a:solidFill>
                <a:latin typeface="Tahoma" charset="0"/>
                <a:ea typeface="Tahoma" charset="0"/>
                <a:cs typeface="Tahoma" charset="0"/>
              </a:rPr>
              <a:t>o</a:t>
            </a:r>
            <a:r>
              <a:rPr lang="en-US" sz="2400" dirty="0">
                <a:solidFill>
                  <a:srgbClr val="FFC000"/>
                </a:solidFill>
                <a:latin typeface="Tahoma" charset="0"/>
                <a:ea typeface="Tahoma" charset="0"/>
                <a:cs typeface="Tahoma" charset="0"/>
              </a:rPr>
              <a:t>o</a:t>
            </a:r>
            <a:r>
              <a:rPr lang="en-US" sz="2400" dirty="0">
                <a:solidFill>
                  <a:srgbClr val="0070C0"/>
                </a:solidFill>
                <a:latin typeface="Tahoma" charset="0"/>
                <a:ea typeface="Tahoma" charset="0"/>
                <a:cs typeface="Tahoma" charset="0"/>
              </a:rPr>
              <a:t>g</a:t>
            </a:r>
            <a:r>
              <a:rPr lang="en-US" sz="2400" dirty="0">
                <a:solidFill>
                  <a:schemeClr val="accent2"/>
                </a:solidFill>
                <a:latin typeface="Tahoma" charset="0"/>
                <a:ea typeface="Tahoma" charset="0"/>
                <a:cs typeface="Tahoma" charset="0"/>
              </a:rPr>
              <a:t>l</a:t>
            </a:r>
            <a:r>
              <a:rPr lang="en-US" sz="2400" dirty="0">
                <a:solidFill>
                  <a:srgbClr val="FF0000"/>
                </a:solidFill>
                <a:latin typeface="Tahoma" charset="0"/>
                <a:ea typeface="Tahoma" charset="0"/>
                <a:cs typeface="Tahoma" charset="0"/>
              </a:rPr>
              <a:t>e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Is </a:t>
            </a:r>
            <a:r>
              <a:rPr lang="en-US" sz="2400" u="sng" dirty="0">
                <a:latin typeface="Tahoma" charset="0"/>
                <a:ea typeface="Tahoma" charset="0"/>
                <a:cs typeface="Tahoma" charset="0"/>
              </a:rPr>
              <a:t>Your Friend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. Use Google </a:t>
            </a:r>
            <a:r>
              <a:rPr lang="en-US" sz="2400" b="1" u="sng" dirty="0">
                <a:latin typeface="Tahoma" charset="0"/>
                <a:ea typeface="Tahoma" charset="0"/>
                <a:cs typeface="Tahoma" charset="0"/>
              </a:rPr>
              <a:t>first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</a:t>
            </a:r>
            <a:r>
              <a:rPr lang="en-US" sz="2400" i="1" dirty="0">
                <a:latin typeface="Tahoma" charset="0"/>
                <a:ea typeface="Tahoma" charset="0"/>
                <a:cs typeface="Tahoma" charset="0"/>
              </a:rPr>
              <a:t>(ChatGPT or equivalent can do wonders)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, research the problem (1/2 a day), and then email </a:t>
            </a:r>
            <a:r>
              <a:rPr lang="en-US" sz="2400" dirty="0">
                <a:latin typeface="Tahoma" charset="0"/>
                <a:ea typeface="Tahoma" charset="0"/>
                <a:cs typeface="Tahoma" charset="0"/>
                <a:hlinkClick r:id="rId2"/>
              </a:rPr>
              <a:t>help@coaps.fsu.edu</a:t>
            </a:r>
            <a:r>
              <a:rPr lang="en-US" sz="2400" dirty="0">
                <a:latin typeface="Tahoma" charset="0"/>
                <a:ea typeface="Tahoma" charset="0"/>
                <a:cs typeface="Tahoma" charset="0"/>
              </a:rPr>
              <a:t>   if you are still stuck.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228600"/>
            <a:ext cx="6571343" cy="1049235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5400" dirty="0"/>
              <a:t>Editors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1"/>
            <a:ext cx="7848601" cy="4343400"/>
          </a:xfrm>
        </p:spPr>
        <p:txBody>
          <a:bodyPr numCol="1">
            <a:normAutofit/>
          </a:bodyPr>
          <a:lstStyle/>
          <a:p>
            <a:pPr>
              <a:lnSpc>
                <a:spcPct val="90000"/>
              </a:lnSpc>
              <a:buSzPct val="120000"/>
              <a:buFont typeface="Wingdings" panose="05000000000000000000" pitchFamily="2" charset="2"/>
              <a:buChar char="Ø"/>
              <a:defRPr/>
            </a:pPr>
            <a:r>
              <a:rPr lang="en-US" sz="3200" dirty="0"/>
              <a:t>Linux </a:t>
            </a:r>
            <a:r>
              <a:rPr lang="en-US" sz="3200" b="1" dirty="0"/>
              <a:t>Graphical</a:t>
            </a:r>
            <a:r>
              <a:rPr lang="en-US" sz="3200" dirty="0"/>
              <a:t> Editors</a:t>
            </a:r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sz="3600" dirty="0" err="1"/>
              <a:t>nedit</a:t>
            </a:r>
            <a:endParaRPr lang="en-US" sz="3600" dirty="0"/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sz="3600" dirty="0"/>
              <a:t>emacs</a:t>
            </a:r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sz="3600" dirty="0"/>
              <a:t>bluefish</a:t>
            </a:r>
          </a:p>
          <a:p>
            <a:pPr>
              <a:lnSpc>
                <a:spcPct val="90000"/>
              </a:lnSpc>
              <a:buSzPct val="120000"/>
              <a:buFont typeface="Wingdings" panose="05000000000000000000" pitchFamily="2" charset="2"/>
              <a:buChar char="Ø"/>
              <a:defRPr/>
            </a:pPr>
            <a:r>
              <a:rPr lang="en-US" sz="3200" dirty="0"/>
              <a:t>Linux </a:t>
            </a:r>
            <a:r>
              <a:rPr lang="en-US" sz="3200" b="1" dirty="0"/>
              <a:t>Command Line </a:t>
            </a:r>
            <a:r>
              <a:rPr lang="en-US" sz="3200" dirty="0"/>
              <a:t>Editors</a:t>
            </a:r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sz="3600" dirty="0"/>
              <a:t>vi</a:t>
            </a:r>
          </a:p>
          <a:p>
            <a:pPr>
              <a:lnSpc>
                <a:spcPct val="90000"/>
              </a:lnSpc>
              <a:buFontTx/>
              <a:buChar char="•"/>
              <a:defRPr/>
            </a:pPr>
            <a:r>
              <a:rPr lang="en-US" sz="3600" dirty="0" err="1"/>
              <a:t>nano</a:t>
            </a:r>
            <a:endParaRPr lang="en-US" sz="3600" dirty="0"/>
          </a:p>
          <a:p>
            <a:pPr>
              <a:lnSpc>
                <a:spcPct val="90000"/>
              </a:lnSpc>
              <a:buFontTx/>
              <a:buChar char="•"/>
              <a:defRPr/>
            </a:pP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381000"/>
            <a:ext cx="7241903" cy="1506435"/>
          </a:xfrm>
        </p:spPr>
        <p:txBody>
          <a:bodyPr numCol="1">
            <a:normAutofit/>
          </a:bodyPr>
          <a:lstStyle/>
          <a:p>
            <a:pPr eaLnBrk="1" hangingPunct="1">
              <a:defRPr/>
            </a:pPr>
            <a:r>
              <a:rPr lang="en-US" sz="4400" dirty="0"/>
              <a:t>Customizing Your Environment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3505200" cy="4800600"/>
          </a:xfrm>
        </p:spPr>
        <p:txBody>
          <a:bodyPr numCol="1"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Char char="n"/>
              <a:defRPr/>
            </a:pPr>
            <a:r>
              <a:rPr lang="en-US" sz="3200" b="1" dirty="0"/>
              <a:t>/bin/bash </a:t>
            </a:r>
            <a:r>
              <a:rPr lang="en-US" sz="3200" dirty="0"/>
              <a:t>shell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~/.</a:t>
            </a:r>
            <a:r>
              <a:rPr lang="en-US" sz="2800" dirty="0" err="1"/>
              <a:t>bash_profile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~/.</a:t>
            </a:r>
            <a:r>
              <a:rPr lang="en-US" sz="2800" dirty="0" err="1"/>
              <a:t>bashrc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~/.login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~/.logout</a:t>
            </a:r>
          </a:p>
          <a:p>
            <a:pPr lvl="1">
              <a:buFont typeface="Wingdings" panose="05000000000000000000" pitchFamily="2" charset="2"/>
              <a:buChar char="n"/>
              <a:defRPr/>
            </a:pPr>
            <a:r>
              <a:rPr lang="en-US" sz="2800" dirty="0"/>
              <a:t>etc.</a:t>
            </a:r>
          </a:p>
          <a:p>
            <a:pPr>
              <a:buFont typeface="Wingdings" panose="05000000000000000000" pitchFamily="2" charset="2"/>
              <a:buChar char="n"/>
              <a:defRPr/>
            </a:pPr>
            <a:r>
              <a:rPr lang="en-US" sz="3000" dirty="0">
                <a:solidFill>
                  <a:srgbClr val="00B050"/>
                </a:solidFill>
              </a:rPr>
              <a:t>Bash is the Default &amp; </a:t>
            </a:r>
            <a:r>
              <a:rPr lang="en-US" sz="3000" u="sng" dirty="0">
                <a:solidFill>
                  <a:srgbClr val="00B050"/>
                </a:solidFill>
              </a:rPr>
              <a:t>Preferred</a:t>
            </a:r>
            <a:r>
              <a:rPr lang="en-US" sz="3000" dirty="0">
                <a:solidFill>
                  <a:srgbClr val="00B050"/>
                </a:solidFill>
              </a:rPr>
              <a:t> Shell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267199" y="2057400"/>
            <a:ext cx="3279503" cy="3810000"/>
          </a:xfrm>
          <a:prstGeom prst="rect">
            <a:avLst/>
          </a:prstGeom>
        </p:spPr>
        <p:txBody>
          <a:bodyPr vert="horz" lIns="91440" tIns="45720" rIns="91440" bIns="45720" numCol="1" rtlCol="0" anchor="t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3200" b="1" dirty="0"/>
              <a:t>/bin/</a:t>
            </a:r>
            <a:r>
              <a:rPr lang="en-US" sz="3200" b="1" dirty="0" err="1"/>
              <a:t>tcsh</a:t>
            </a:r>
            <a:r>
              <a:rPr lang="en-US" sz="3200" b="1" dirty="0"/>
              <a:t> </a:t>
            </a:r>
            <a:r>
              <a:rPr lang="en-US" sz="3200" dirty="0"/>
              <a:t>shell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~/.</a:t>
            </a:r>
            <a:r>
              <a:rPr lang="en-US" sz="2400" dirty="0" err="1"/>
              <a:t>cshrc</a:t>
            </a:r>
            <a:endParaRPr lang="en-US" sz="2400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~/.login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~/.logout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400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939977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533400"/>
            <a:ext cx="6571343" cy="1049235"/>
          </a:xfrm>
        </p:spPr>
        <p:txBody>
          <a:bodyPr numCol="1">
            <a:normAutofit fontScale="90000"/>
          </a:bodyPr>
          <a:lstStyle/>
          <a:p>
            <a:pPr eaLnBrk="1" hangingPunct="1">
              <a:defRPr/>
            </a:pPr>
            <a:r>
              <a:rPr lang="en-US" sz="5400" dirty="0"/>
              <a:t>CODE Documentation</a:t>
            </a:r>
          </a:p>
        </p:txBody>
      </p:sp>
      <p:sp>
        <p:nvSpPr>
          <p:cNvPr id="4" name="Content Placeholder 3"/>
          <p:cNvSpPr txBox="1">
            <a:spLocks/>
          </p:cNvSpPr>
          <p:nvPr/>
        </p:nvSpPr>
        <p:spPr>
          <a:xfrm>
            <a:off x="476036" y="1752600"/>
            <a:ext cx="7220164" cy="4419600"/>
          </a:xfrm>
          <a:prstGeom prst="rect">
            <a:avLst/>
          </a:prstGeom>
        </p:spPr>
        <p:txBody>
          <a:bodyPr numCol="1"/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3600" dirty="0">
                <a:hlinkClick r:id="rId2"/>
              </a:rPr>
              <a:t>https://wiki.coaps.fsu.edu</a:t>
            </a:r>
            <a:endParaRPr lang="en-US" sz="3600" dirty="0"/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3200" dirty="0"/>
              <a:t>COAPS’ NIS/YP user and pass Authentication</a:t>
            </a:r>
          </a:p>
          <a:p>
            <a:pPr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3600" dirty="0"/>
              <a:t>Contact Help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n"/>
              <a:defRPr/>
            </a:pPr>
            <a:r>
              <a:rPr lang="en-US" sz="2800" dirty="0" err="1"/>
              <a:t>help@coaps.fsu.edu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64324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6347713" cy="1320800"/>
          </a:xfrm>
        </p:spPr>
        <p:txBody>
          <a:bodyPr numCol="1">
            <a:normAutofit/>
          </a:bodyPr>
          <a:lstStyle/>
          <a:p>
            <a:r>
              <a:rPr lang="en-US" sz="5400" dirty="0"/>
              <a:t>Got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7620000" cy="4724400"/>
          </a:xfrm>
        </p:spPr>
        <p:txBody>
          <a:bodyPr numCol="1">
            <a:normAutofit fontScale="70000" lnSpcReduction="20000"/>
          </a:bodyPr>
          <a:lstStyle/>
          <a:p>
            <a:r>
              <a:rPr lang="en-US" sz="4800" dirty="0">
                <a:solidFill>
                  <a:srgbClr val="0070C0"/>
                </a:solidFill>
                <a:latin typeface="Tahoma" charset="0"/>
                <a:ea typeface="Tahoma" charset="0"/>
                <a:cs typeface="Tahoma" charset="0"/>
              </a:rPr>
              <a:t>G</a:t>
            </a:r>
            <a:r>
              <a:rPr lang="en-US" sz="4800" dirty="0">
                <a:solidFill>
                  <a:srgbClr val="FF0000"/>
                </a:solidFill>
                <a:latin typeface="Tahoma" charset="0"/>
                <a:ea typeface="Tahoma" charset="0"/>
                <a:cs typeface="Tahoma" charset="0"/>
              </a:rPr>
              <a:t>o</a:t>
            </a:r>
            <a:r>
              <a:rPr lang="en-US" sz="4800" dirty="0">
                <a:solidFill>
                  <a:srgbClr val="FFC000"/>
                </a:solidFill>
                <a:latin typeface="Tahoma" charset="0"/>
                <a:ea typeface="Tahoma" charset="0"/>
                <a:cs typeface="Tahoma" charset="0"/>
              </a:rPr>
              <a:t>o</a:t>
            </a:r>
            <a:r>
              <a:rPr lang="en-US" sz="4800" dirty="0">
                <a:solidFill>
                  <a:srgbClr val="0070C0"/>
                </a:solidFill>
                <a:latin typeface="Tahoma" charset="0"/>
                <a:ea typeface="Tahoma" charset="0"/>
                <a:cs typeface="Tahoma" charset="0"/>
              </a:rPr>
              <a:t>g</a:t>
            </a:r>
            <a:r>
              <a:rPr lang="en-US" sz="4800" dirty="0">
                <a:solidFill>
                  <a:schemeClr val="accent2"/>
                </a:solidFill>
                <a:latin typeface="Tahoma" charset="0"/>
                <a:ea typeface="Tahoma" charset="0"/>
                <a:cs typeface="Tahoma" charset="0"/>
              </a:rPr>
              <a:t>l</a:t>
            </a:r>
            <a:r>
              <a:rPr lang="en-US" sz="4800" dirty="0">
                <a:solidFill>
                  <a:srgbClr val="FF0000"/>
                </a:solidFill>
                <a:latin typeface="Tahoma" charset="0"/>
                <a:ea typeface="Tahoma" charset="0"/>
                <a:cs typeface="Tahoma" charset="0"/>
              </a:rPr>
              <a:t>e</a:t>
            </a:r>
            <a:r>
              <a:rPr lang="en-US" sz="4800" dirty="0"/>
              <a:t> is your friend.</a:t>
            </a:r>
          </a:p>
          <a:p>
            <a:r>
              <a:rPr lang="en-US" sz="4800" dirty="0"/>
              <a:t>ChatGPT your question/issue.</a:t>
            </a:r>
          </a:p>
          <a:p>
            <a:endParaRPr lang="en-US" sz="4800" dirty="0"/>
          </a:p>
          <a:p>
            <a:r>
              <a:rPr lang="en-US" sz="4800" dirty="0"/>
              <a:t>When all else fails… [</a:t>
            </a:r>
            <a:r>
              <a:rPr lang="en-US" sz="4800" dirty="0" err="1"/>
              <a:t>emai</a:t>
            </a:r>
            <a:r>
              <a:rPr lang="en-US" sz="4800" dirty="0"/>
              <a:t>]</a:t>
            </a:r>
          </a:p>
          <a:p>
            <a:pPr lvl="1"/>
            <a:r>
              <a:rPr lang="en-US" sz="4600" dirty="0">
                <a:hlinkClick r:id="rId2"/>
              </a:rPr>
              <a:t>help@coaps.fsu.edu</a:t>
            </a:r>
            <a:endParaRPr lang="en-US" sz="4600" dirty="0"/>
          </a:p>
          <a:p>
            <a:endParaRPr lang="en-US" sz="4800" dirty="0"/>
          </a:p>
          <a:p>
            <a:r>
              <a:rPr lang="en-US" sz="4800" dirty="0"/>
              <a:t>Try </a:t>
            </a:r>
            <a:r>
              <a:rPr lang="en-US" sz="6400" b="1" dirty="0">
                <a:latin typeface="Courier" pitchFamily="2" charset="0"/>
              </a:rPr>
              <a:t>Help</a:t>
            </a:r>
            <a:r>
              <a:rPr lang="en-US" sz="4800" dirty="0"/>
              <a:t> command at the Linux terminal on the system you are having trouble with. </a:t>
            </a:r>
          </a:p>
        </p:txBody>
      </p:sp>
    </p:spTree>
    <p:extLst>
      <p:ext uri="{BB962C8B-B14F-4D97-AF65-F5344CB8AC3E}">
        <p14:creationId xmlns:p14="http://schemas.microsoft.com/office/powerpoint/2010/main" val="14385017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98BE0429902B4EB75414BE05EFD7C3" ma:contentTypeVersion="12" ma:contentTypeDescription="Create a new document." ma:contentTypeScope="" ma:versionID="21f8bbff8514f8d198fce0a6f8347bd7">
  <xsd:schema xmlns:xsd="http://www.w3.org/2001/XMLSchema" xmlns:xs="http://www.w3.org/2001/XMLSchema" xmlns:p="http://schemas.microsoft.com/office/2006/metadata/properties" xmlns:ns2="6822fec2-1c0c-4b07-9503-11fefe3f6248" targetNamespace="http://schemas.microsoft.com/office/2006/metadata/properties" ma:root="true" ma:fieldsID="76407feb2d6d48ce0a2e7d08c08ed2aa" ns2:_="">
    <xsd:import namespace="6822fec2-1c0c-4b07-9503-11fefe3f62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2fec2-1c0c-4b07-9503-11fefe3f62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43b83bf-5a34-45d0-bf74-ccf9241540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22fec2-1c0c-4b07-9503-11fefe3f624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5B5BEB-D3FB-4F64-A871-B948274818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22fec2-1c0c-4b07-9503-11fefe3f62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1A8A7C-60B5-41FD-9590-0CA5CD61F90C}">
  <ds:schemaRefs>
    <ds:schemaRef ds:uri="http://purl.org/dc/terms/"/>
    <ds:schemaRef ds:uri="http://purl.org/dc/elements/1.1/"/>
    <ds:schemaRef ds:uri="6822fec2-1c0c-4b07-9503-11fefe3f6248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9FF136-0EA0-4B4E-889F-3D1F0F31B1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{F3DBC5D0-B1B5-3C4D-87C1-5A5A3B6EE4EE}tf10001060</Template>
  <TotalTime>7840</TotalTime>
  <Words>1253</Words>
  <Application>Microsoft Macintosh PowerPoint</Application>
  <PresentationFormat>On-screen Show (4:3)</PresentationFormat>
  <Paragraphs>200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Courier</vt:lpstr>
      <vt:lpstr>Courier New</vt:lpstr>
      <vt:lpstr>Garamond</vt:lpstr>
      <vt:lpstr>Tahoma</vt:lpstr>
      <vt:lpstr>Trebuchet MS</vt:lpstr>
      <vt:lpstr>Wingdings</vt:lpstr>
      <vt:lpstr>Wingdings 3</vt:lpstr>
      <vt:lpstr>Facet</vt:lpstr>
      <vt:lpstr>What is Linux?</vt:lpstr>
      <vt:lpstr>Getting Started with LINUX</vt:lpstr>
      <vt:lpstr>CHANGING YOUR LINUX PASSWORD</vt:lpstr>
      <vt:lpstr>A good Password MUST:</vt:lpstr>
      <vt:lpstr>Passwordless Login is Strongly Recommended</vt:lpstr>
      <vt:lpstr>Connecting Remotely</vt:lpstr>
      <vt:lpstr>Enabling Graphical  X11 Forwarding</vt:lpstr>
      <vt:lpstr>Enabling Graphical  X11 Forwarding</vt:lpstr>
      <vt:lpstr>Running X11 Apps Remotely (legacy option, phasing out)</vt:lpstr>
      <vt:lpstr>Linux Commands</vt:lpstr>
      <vt:lpstr>Essential Linux Commands</vt:lpstr>
      <vt:lpstr>Additional Linux Commands</vt:lpstr>
      <vt:lpstr>Your Home Directory</vt:lpstr>
      <vt:lpstr>COAPS Compute Nodes</vt:lpstr>
      <vt:lpstr>PowerPoint Presentation</vt:lpstr>
      <vt:lpstr>Check DISK Storage</vt:lpstr>
      <vt:lpstr>Check System CPU/MEM LOAD</vt:lpstr>
      <vt:lpstr>Check WHO IS LOGGED IN</vt:lpstr>
      <vt:lpstr>Advanced LINUX Commands</vt:lpstr>
      <vt:lpstr>Editors</vt:lpstr>
      <vt:lpstr>Customizing Your Environment</vt:lpstr>
      <vt:lpstr>CODE Documentation</vt:lpstr>
      <vt:lpstr>Got Questions?</vt:lpstr>
    </vt:vector>
  </TitlesOfParts>
  <Company>FSU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Unix ?</dc:title>
  <dc:creator>coaps</dc:creator>
  <cp:lastModifiedBy>Michael McDonald</cp:lastModifiedBy>
  <cp:revision>139</cp:revision>
  <dcterms:created xsi:type="dcterms:W3CDTF">2003-09-03T19:54:19Z</dcterms:created>
  <dcterms:modified xsi:type="dcterms:W3CDTF">2025-08-10T17:19:08Z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0x0101009F98BE0429902B4EB75414BE05EFD7C3</vt:lpwstr>
  </property>
  <property fmtid="{D5CDD505-2E9C-101B-9397-08002B2CF9AE}" pid="3" name="MediaServiceImageTags">
    <vt:lpwstr/>
  </property>
</Properties>
</file>